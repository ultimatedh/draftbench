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सेटमा वस्तुहरू समान वा अलग-अलग छन्। उदाहरणका लागि, टेबल टेनिस र फुटबॉल दुई अलग-अलग सेट हुन सक्छन्।</a:t>
            </a:r>
          </a:p>
          <a:p/>
          <a:p>
            <a:r>
              <a:t>उदाहरण: क्लासमा खेलाउने र नियोजन गर्ने वस्तुहरू दुई सेट बनाइएको छ।</a:t>
            </a:r>
          </a:p>
          <a:p/>
          <a:p>
            <a:r>
              <a:t>मुख्य शब्दहरू: सेट = संग्रह; वस्तु = सामग्री</a:t>
            </a:r>
          </a:p>
          <a:p/>
          <a:p>
            <a:r>
              <a:t>शिक्षकको भनाइ: सेट एक संग्रह हो। यसमा कुनै वस्तुहरू राउन्छन्। तपाईंले एउटा सेट दिइयो र तत्परतामा वस्तुहरूको संग्रह बताउनुहोस्।</a:t>
            </a:r>
          </a:p>
          <a:p/>
          <a:p>
            <a:r>
              <a:t>सञ्चार पहुँच: स्टूडेंटले दिइएको सेटमा वस्तुहरूको संग्रह बताउनुपर्छ।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सेटको प्रकार विशेष र अविशेष हुन सक्छन्। उदाहरणका लागि, दिनहरू र वर्षहरू दुई अलग-अलग सेट हुन सक्छन्।</a:t>
            </a:r>
          </a:p>
          <a:p/>
          <a:p>
            <a:r>
              <a:t>उदाहरण: क्लासमा दिनहरू र वर्षहरू दुई सेट बनाइएको छ।</a:t>
            </a:r>
          </a:p>
          <a:p/>
          <a:p>
            <a:r>
              <a:t>मुख्य शब्दहरू: सेटको प्रकार = सेटको प्रकार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सेटको उदाहरण वर्षहरू र दिनहरूको संग्रह हुन सक्छन्। उदाहरणका लागि, वर्षहरू र दिनहरू दुई अलग-अलग सेट हुन सक्छन्।</a:t>
            </a:r>
          </a:p>
          <a:p/>
          <a:p>
            <a:r>
              <a:t>उदाहरण: वर्षहरू र दिनहरू दुई सेट बनाइएको छ।</a:t>
            </a:r>
          </a:p>
          <a:p/>
          <a:p>
            <a:r>
              <a:t>मुख्य शब्दहरू: सेट = संग्रह; वस्तु = सामग्री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सेटको समावेश सेटको वस्तुहरूको संग्रह हो। उदाहरणका लागि, वर्षहरू र दिनहरू दुई अलग-अलग सेटको समावेश हुन सक्छन्।</a:t>
            </a:r>
          </a:p>
          <a:p/>
          <a:p>
            <a:r>
              <a:t>उदाहरण: वर्षहरू र दिनहरू दुई सेटको समावेश हुन सक्छन्।</a:t>
            </a:r>
          </a:p>
          <a:p/>
          <a:p>
            <a:r>
              <a:t>मुख्य शब्दहरू: सेटको समावेश = सेटको वस्तुहरूको संग्रह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D28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-2011680"/>
            <a:ext cx="6035040" cy="6035040"/>
          </a:xfrm>
          <a:prstGeom prst="ellipse">
            <a:avLst/>
          </a:prstGeom>
          <a:solidFill>
            <a:srgbClr val="FFFFFF">
              <a:alpha val="9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463040" y="4206240"/>
            <a:ext cx="4206240" cy="4206240"/>
          </a:xfrm>
          <a:prstGeom prst="ellipse">
            <a:avLst/>
          </a:prstGeom>
          <a:solidFill>
            <a:srgbClr val="FFFFFF">
              <a:alpha val="7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731520"/>
            <a:ext cx="822960" cy="822960"/>
          </a:xfrm>
          <a:prstGeom prst="roundRect">
            <a:avLst>
              <a:gd name="adj" fmla="val 2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2600" b="1" i="0">
                <a:solidFill>
                  <a:srgbClr val="6D28D9"/>
                </a:solidFill>
              </a:rPr>
              <a:t>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601200" cy="237744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5400" b="1" i="0">
                <a:solidFill>
                  <a:srgbClr val="FFFFFF"/>
                </a:solidFill>
                <a:cs typeface="Nirmala UI"/>
              </a:rPr>
              <a:t>सेट सिद्धान्त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54880"/>
            <a:ext cx="960120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2400" b="0" i="0">
                <a:solidFill>
                  <a:srgbClr val="DDD0FA"/>
                </a:solidFill>
                <a:cs typeface="Nirmala UI"/>
              </a:rPr>
              <a:t>कक्षा 7 • Mathematics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  <a:cs typeface="Nirmala UI"/>
              </a:rPr>
              <a:t>सेट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  <a:cs typeface="Nirmala UI"/>
              </a:rPr>
              <a:t>सेट एक संग्रह हो।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113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  <a:cs typeface="Nirmala UI"/>
              </a:rPr>
              <a:t>सेट विभिन्न वस्तुहरू को संग्रह हो।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  <a:cs typeface="Nirmala UI"/>
              </a:rPr>
              <a:t>सेटमा वस्तुहरू समान वा अलग-अलग हुन सक्छन्।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  <a:cs typeface="Nirmala UI"/>
              </a:rPr>
              <a:t>उदाहरण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cs typeface="Nirmala UI"/>
              </a:rPr>
              <a:t>क्लासमा खेलाउने र नियोजन गर्ने वस्तुहरू दुई सेट बनाइएको छ।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  <a:cs typeface="Nirmala UI"/>
              </a:rPr>
              <a:t>सेटको प्रकार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  <a:cs typeface="Nirmala UI"/>
              </a:rPr>
              <a:t>सेटको प्रकार विभिन्न हुन सक्छन्।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113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  <a:cs typeface="Nirmala UI"/>
              </a:rPr>
              <a:t>सेटको प्रकार विभिन्न हुन सक्छन्।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  <a:cs typeface="Nirmala UI"/>
              </a:rPr>
              <a:t>सेटको प्रकार विशेष र अविशेष हुन सक्छन्।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  <a:cs typeface="Nirmala UI"/>
              </a:rPr>
              <a:t>उदाहरण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cs typeface="Nirmala UI"/>
              </a:rPr>
              <a:t>क्लासमा दिनहरू र वर्षहरू दुई सेट बनाइएको छ।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  <a:cs typeface="Nirmala UI"/>
              </a:rPr>
              <a:t>सेटको उदाहरण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  <a:cs typeface="Nirmala UI"/>
              </a:rPr>
              <a:t>सेटको उदाहरण समान वस्तुहरूको संग्रह हुन सक्छन्।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113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  <a:cs typeface="Nirmala UI"/>
              </a:rPr>
              <a:t>सेटको उदाहरण समान वस्तुहरूको संग्रह हुन सक्छन्।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  <a:cs typeface="Nirmala UI"/>
              </a:rPr>
              <a:t>सेटको उदाहरण वर्षहरू र दिनहरूको संग्रह हुन सक्छन्।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  <a:cs typeface="Nirmala UI"/>
              </a:rPr>
              <a:t>उदाहरण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cs typeface="Nirmala UI"/>
              </a:rPr>
              <a:t>वर्षहरू र दिनहरू दुई सेट बनाइएको छ।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09728" cy="777240"/>
          </a:xfrm>
          <a:prstGeom prst="rect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47472"/>
            <a:ext cx="10789920" cy="9144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4000" b="1" i="0">
                <a:solidFill>
                  <a:srgbClr val="2E1065"/>
                </a:solidFill>
                <a:cs typeface="Nirmala UI"/>
              </a:rPr>
              <a:t>सेटको समावेश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600200"/>
            <a:ext cx="6766560" cy="1325880"/>
          </a:xfrm>
          <a:prstGeom prst="roundRect">
            <a:avLst>
              <a:gd name="adj" fmla="val 8000"/>
            </a:avLst>
          </a:prstGeom>
          <a:solidFill>
            <a:srgbClr val="F3EEFF"/>
          </a:solidFill>
          <a:ln w="12700">
            <a:solidFill>
              <a:srgbClr val="E2D8F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00200"/>
            <a:ext cx="6400800" cy="13258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1" i="0">
                <a:solidFill>
                  <a:srgbClr val="2E1065"/>
                </a:solidFill>
                <a:cs typeface="Nirmala UI"/>
              </a:rPr>
              <a:t>सेटको समावेश सेटको वस्तुहरूको संग्रह हो।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6766560" cy="2113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  <a:cs typeface="Nirmala UI"/>
              </a:rPr>
              <a:t>सेटको समावेश सेटको वस्तुहरूको संग्रह हो।</a:t>
            </a:r>
          </a:p>
          <a:p>
            <a:pPr algn="l" marL="342900" indent="-342900">
              <a:spcAft>
                <a:spcPts val="1400"/>
              </a:spcAft>
              <a:buClr>
                <a:srgbClr val="6D28D9"/>
              </a:buClr>
              <a:buChar char="•"/>
            </a:pPr>
            <a:r>
              <a:rPr sz="2800" b="0" i="0">
                <a:solidFill>
                  <a:srgbClr val="1E1033"/>
                </a:solidFill>
                <a:cs typeface="Nirmala UI"/>
              </a:rPr>
              <a:t>सेटको समावेश सेटको वस्तुहरूको समानता र अलगता हुन सक्छ।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600200"/>
            <a:ext cx="3611880" cy="4251960"/>
          </a:xfrm>
          <a:prstGeom prst="roundRect">
            <a:avLst>
              <a:gd name="adj" fmla="val 6000"/>
            </a:avLst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79" y="1783080"/>
            <a:ext cx="3154680" cy="411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600" b="1" i="0">
                <a:solidFill>
                  <a:srgbClr val="DDD0FA"/>
                </a:solidFill>
                <a:cs typeface="Nirmala UI"/>
              </a:rPr>
              <a:t>उदाहरण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2286000"/>
            <a:ext cx="3154680" cy="338328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cs typeface="Nirmala UI"/>
              </a:rPr>
              <a:t>वर्षहरू र दिनहरू दुई सेटको समावेश हुन सक्छन्।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E2D8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EE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998567" y="1554480"/>
            <a:ext cx="2194560" cy="219456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438247" y="4023360"/>
            <a:ext cx="7315200" cy="12801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noAutofit/>
          </a:bodyPr>
          <a:lstStyle/>
          <a:p>
            <a:pPr algn="ctr"/>
            <a:r>
              <a:rPr sz="5400" b="1" i="0">
                <a:solidFill>
                  <a:srgbClr val="2E1065"/>
                </a:solidFill>
                <a:cs typeface="Nirmala UI"/>
              </a:rPr>
              <a:t>सबै सकियो!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426464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28216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029968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331720" y="6400800"/>
            <a:ext cx="155448" cy="15544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454335" y="6309360"/>
            <a:ext cx="1188720" cy="3200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r"/>
            <a:r>
              <a:rPr sz="1200" b="0" i="0">
                <a:solidFill>
                  <a:srgbClr val="6B5E85"/>
                </a:solidFill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